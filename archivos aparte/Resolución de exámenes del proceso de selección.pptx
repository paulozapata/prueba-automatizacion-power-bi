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3" r:id="rId17"/>
    <p:sldId id="272"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65" d="100"/>
          <a:sy n="65" d="100"/>
        </p:scale>
        <p:origin x="924"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D7E980B-25AC-4F16-B657-C38E55BAF7F9}" type="datetimeFigureOut">
              <a:rPr lang="es-ES" smtClean="0"/>
              <a:t>15/12/2024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765DEC-4BBB-4FED-805A-0EC7593B0334}"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8947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D7E980B-25AC-4F16-B657-C38E55BAF7F9}" type="datetimeFigureOut">
              <a:rPr lang="es-ES" smtClean="0"/>
              <a:t>15/12/2024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927031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D7E980B-25AC-4F16-B657-C38E55BAF7F9}" type="datetimeFigureOut">
              <a:rPr lang="es-ES" smtClean="0"/>
              <a:t>15/12/2024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765DEC-4BBB-4FED-805A-0EC7593B0334}"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557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D7E980B-25AC-4F16-B657-C38E55BAF7F9}" type="datetimeFigureOut">
              <a:rPr lang="es-ES" smtClean="0"/>
              <a:t>15/12/2024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1038290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D7E980B-25AC-4F16-B657-C38E55BAF7F9}" type="datetimeFigureOut">
              <a:rPr lang="es-ES" smtClean="0"/>
              <a:t>15/12/2024</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1281771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D7E980B-25AC-4F16-B657-C38E55BAF7F9}" type="datetimeFigureOut">
              <a:rPr lang="es-ES" smtClean="0"/>
              <a:t>15/12/2024</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912843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D7E980B-25AC-4F16-B657-C38E55BAF7F9}" type="datetimeFigureOut">
              <a:rPr lang="es-ES" smtClean="0"/>
              <a:t>15/12/2024</a:t>
            </a:fld>
            <a:endParaRPr lang="es-E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ES"/>
          </a:p>
        </p:txBody>
      </p:sp>
      <p:sp>
        <p:nvSpPr>
          <p:cNvPr id="9" name="Slide Number Placeholder 8"/>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2948758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D7E980B-25AC-4F16-B657-C38E55BAF7F9}" type="datetimeFigureOut">
              <a:rPr lang="es-ES" smtClean="0"/>
              <a:t>15/12/2024</a:t>
            </a:fld>
            <a:endParaRPr lang="es-E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E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4765DEC-4BBB-4FED-805A-0EC7593B0334}" type="slidenum">
              <a:rPr lang="es-ES" smtClean="0"/>
              <a:t>‹Nº›</a:t>
            </a:fld>
            <a:endParaRPr lang="es-ES"/>
          </a:p>
        </p:txBody>
      </p:sp>
    </p:spTree>
    <p:extLst>
      <p:ext uri="{BB962C8B-B14F-4D97-AF65-F5344CB8AC3E}">
        <p14:creationId xmlns:p14="http://schemas.microsoft.com/office/powerpoint/2010/main" val="129793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D7E980B-25AC-4F16-B657-C38E55BAF7F9}" type="datetimeFigureOut">
              <a:rPr lang="es-ES" smtClean="0"/>
              <a:t>15/12/2024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3517838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D7E980B-25AC-4F16-B657-C38E55BAF7F9}" type="datetimeFigureOut">
              <a:rPr lang="es-ES" smtClean="0"/>
              <a:t>15/12/2024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729779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D7E980B-25AC-4F16-B657-C38E55BAF7F9}" type="datetimeFigureOut">
              <a:rPr lang="es-ES" smtClean="0"/>
              <a:t>15/12/2024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765DEC-4BBB-4FED-805A-0EC7593B0334}" type="slidenum">
              <a:rPr lang="es-ES" smtClean="0"/>
              <a:t>‹Nº›</a:t>
            </a:fld>
            <a:endParaRPr lang="es-ES"/>
          </a:p>
        </p:txBody>
      </p:sp>
    </p:spTree>
    <p:extLst>
      <p:ext uri="{BB962C8B-B14F-4D97-AF65-F5344CB8AC3E}">
        <p14:creationId xmlns:p14="http://schemas.microsoft.com/office/powerpoint/2010/main" val="4109858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D7E980B-25AC-4F16-B657-C38E55BAF7F9}" type="datetimeFigureOut">
              <a:rPr lang="es-ES" smtClean="0"/>
              <a:t>15/12/2024</a:t>
            </a:fld>
            <a:endParaRPr lang="es-E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E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4765DEC-4BBB-4FED-805A-0EC7593B0334}"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9670133"/>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D36027-FC50-ADD6-47E1-F47B5B0B5197}"/>
              </a:ext>
            </a:extLst>
          </p:cNvPr>
          <p:cNvSpPr>
            <a:spLocks noGrp="1"/>
          </p:cNvSpPr>
          <p:nvPr>
            <p:ph type="ctrTitle"/>
          </p:nvPr>
        </p:nvSpPr>
        <p:spPr/>
        <p:txBody>
          <a:bodyPr/>
          <a:lstStyle/>
          <a:p>
            <a:r>
              <a:rPr lang="es-PE" b="1" dirty="0"/>
              <a:t>Resolución de exámenes del proceso de selección</a:t>
            </a:r>
            <a:endParaRPr lang="es-ES" b="1" dirty="0"/>
          </a:p>
        </p:txBody>
      </p:sp>
      <p:sp>
        <p:nvSpPr>
          <p:cNvPr id="3" name="Subtítulo 2">
            <a:extLst>
              <a:ext uri="{FF2B5EF4-FFF2-40B4-BE49-F238E27FC236}">
                <a16:creationId xmlns:a16="http://schemas.microsoft.com/office/drawing/2014/main" id="{E0EDED46-DF1E-2F5C-9B85-8E032FAC355F}"/>
              </a:ext>
            </a:extLst>
          </p:cNvPr>
          <p:cNvSpPr>
            <a:spLocks noGrp="1"/>
          </p:cNvSpPr>
          <p:nvPr>
            <p:ph type="subTitle" idx="1"/>
          </p:nvPr>
        </p:nvSpPr>
        <p:spPr>
          <a:xfrm>
            <a:off x="1100051" y="4455620"/>
            <a:ext cx="10058400" cy="1502727"/>
          </a:xfrm>
        </p:spPr>
        <p:txBody>
          <a:bodyPr/>
          <a:lstStyle/>
          <a:p>
            <a:r>
              <a:rPr lang="es-PE" b="1" dirty="0"/>
              <a:t>Paulo Adriano Zapata Carmona</a:t>
            </a:r>
          </a:p>
          <a:p>
            <a:r>
              <a:rPr lang="es-PE" b="1" dirty="0"/>
              <a:t>Candidato a ANALISTA DE NEGOCIO en </a:t>
            </a:r>
            <a:r>
              <a:rPr lang="es-PE" b="1" dirty="0" err="1"/>
              <a:t>verisure</a:t>
            </a:r>
            <a:endParaRPr lang="es-PE" b="1" dirty="0"/>
          </a:p>
          <a:p>
            <a:r>
              <a:rPr lang="es-ES" b="1" dirty="0"/>
              <a:t>17 de diciembre de 2024</a:t>
            </a:r>
          </a:p>
        </p:txBody>
      </p:sp>
    </p:spTree>
    <p:extLst>
      <p:ext uri="{BB962C8B-B14F-4D97-AF65-F5344CB8AC3E}">
        <p14:creationId xmlns:p14="http://schemas.microsoft.com/office/powerpoint/2010/main" val="4197287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D1DB89-D09C-BA72-CA33-DE8C2F326813}"/>
              </a:ext>
            </a:extLst>
          </p:cNvPr>
          <p:cNvSpPr>
            <a:spLocks noGrp="1"/>
          </p:cNvSpPr>
          <p:nvPr>
            <p:ph type="title"/>
          </p:nvPr>
        </p:nvSpPr>
        <p:spPr/>
        <p:txBody>
          <a:bodyPr/>
          <a:lstStyle/>
          <a:p>
            <a:r>
              <a:rPr lang="es-PE" dirty="0"/>
              <a:t>1. Introducción</a:t>
            </a:r>
            <a:endParaRPr lang="es-ES" dirty="0"/>
          </a:p>
        </p:txBody>
      </p:sp>
      <p:sp>
        <p:nvSpPr>
          <p:cNvPr id="3" name="Marcador de contenido 2">
            <a:extLst>
              <a:ext uri="{FF2B5EF4-FFF2-40B4-BE49-F238E27FC236}">
                <a16:creationId xmlns:a16="http://schemas.microsoft.com/office/drawing/2014/main" id="{454BE504-6871-7A05-D5DD-159ED4540FC1}"/>
              </a:ext>
            </a:extLst>
          </p:cNvPr>
          <p:cNvSpPr>
            <a:spLocks noGrp="1"/>
          </p:cNvSpPr>
          <p:nvPr>
            <p:ph idx="1"/>
          </p:nvPr>
        </p:nvSpPr>
        <p:spPr/>
        <p:txBody>
          <a:bodyPr/>
          <a:lstStyle/>
          <a:p>
            <a:pPr>
              <a:buFont typeface="Arial" panose="020B0604020202020204" pitchFamily="34" charset="0"/>
              <a:buChar char="•"/>
            </a:pPr>
            <a:r>
              <a:rPr lang="es-MX" dirty="0"/>
              <a:t>Objetivo de la presentación: Resumir los procedimientos y herramientas utilizadas para resolver los exámenes teórico y práctico.</a:t>
            </a:r>
          </a:p>
          <a:p>
            <a:pPr>
              <a:buFont typeface="Arial" panose="020B0604020202020204" pitchFamily="34" charset="0"/>
              <a:buChar char="•"/>
            </a:pPr>
            <a:r>
              <a:rPr lang="es-MX" dirty="0"/>
              <a:t>Resumen del contenido: SQL, Python, limpieza de datos, automatización, y análisis con Power BI.</a:t>
            </a:r>
            <a:endParaRPr lang="es-ES" dirty="0"/>
          </a:p>
        </p:txBody>
      </p:sp>
    </p:spTree>
    <p:extLst>
      <p:ext uri="{BB962C8B-B14F-4D97-AF65-F5344CB8AC3E}">
        <p14:creationId xmlns:p14="http://schemas.microsoft.com/office/powerpoint/2010/main" val="371427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5117C-8D19-8129-9822-C0BB13D10DC7}"/>
              </a:ext>
            </a:extLst>
          </p:cNvPr>
          <p:cNvSpPr>
            <a:spLocks noGrp="1"/>
          </p:cNvSpPr>
          <p:nvPr>
            <p:ph type="title"/>
          </p:nvPr>
        </p:nvSpPr>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DB41C481-E54F-25B7-AF89-1A96C39DEEEF}"/>
              </a:ext>
            </a:extLst>
          </p:cNvPr>
          <p:cNvSpPr>
            <a:spLocks noGrp="1"/>
          </p:cNvSpPr>
          <p:nvPr>
            <p:ph idx="1"/>
          </p:nvPr>
        </p:nvSpPr>
        <p:spPr/>
        <p:txBody>
          <a:bodyPr/>
          <a:lstStyle/>
          <a:p>
            <a:r>
              <a:rPr lang="es-MX" dirty="0"/>
              <a:t>2.1 SQL y Bases de Datos</a:t>
            </a:r>
          </a:p>
          <a:p>
            <a:r>
              <a:rPr lang="es-MX" dirty="0"/>
              <a:t>A) Describe una consulta SQL que optimice la extracción de datos de una tabla grande (más de 1 millón de registros) y explique las razones de tu elección.</a:t>
            </a:r>
            <a:endParaRPr lang="es-ES" dirty="0"/>
          </a:p>
        </p:txBody>
      </p:sp>
      <p:pic>
        <p:nvPicPr>
          <p:cNvPr id="7" name="Imagen 6">
            <a:extLst>
              <a:ext uri="{FF2B5EF4-FFF2-40B4-BE49-F238E27FC236}">
                <a16:creationId xmlns:a16="http://schemas.microsoft.com/office/drawing/2014/main" id="{5657032D-ACAB-42B4-6383-0A874DD3E788}"/>
              </a:ext>
            </a:extLst>
          </p:cNvPr>
          <p:cNvPicPr>
            <a:picLocks noChangeAspect="1"/>
          </p:cNvPicPr>
          <p:nvPr/>
        </p:nvPicPr>
        <p:blipFill>
          <a:blip r:embed="rId2"/>
          <a:stretch>
            <a:fillRect/>
          </a:stretch>
        </p:blipFill>
        <p:spPr>
          <a:xfrm>
            <a:off x="4160811" y="2984862"/>
            <a:ext cx="3870377" cy="3215911"/>
          </a:xfrm>
          <a:prstGeom prst="rect">
            <a:avLst/>
          </a:prstGeom>
        </p:spPr>
      </p:pic>
    </p:spTree>
    <p:extLst>
      <p:ext uri="{BB962C8B-B14F-4D97-AF65-F5344CB8AC3E}">
        <p14:creationId xmlns:p14="http://schemas.microsoft.com/office/powerpoint/2010/main" val="3144727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DE9E8-DB12-6362-7C0E-2F5E7BE251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31FF98-18B2-0A4C-3B4B-CCC8B1215435}"/>
              </a:ext>
            </a:extLst>
          </p:cNvPr>
          <p:cNvSpPr>
            <a:spLocks noGrp="1"/>
          </p:cNvSpPr>
          <p:nvPr>
            <p:ph type="title"/>
          </p:nvPr>
        </p:nvSpPr>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9B85EBC6-D630-238B-4580-38A47BB67E18}"/>
              </a:ext>
            </a:extLst>
          </p:cNvPr>
          <p:cNvSpPr>
            <a:spLocks noGrp="1"/>
          </p:cNvSpPr>
          <p:nvPr>
            <p:ph idx="1"/>
          </p:nvPr>
        </p:nvSpPr>
        <p:spPr/>
        <p:txBody>
          <a:bodyPr/>
          <a:lstStyle/>
          <a:p>
            <a:r>
              <a:rPr lang="es-MX" dirty="0"/>
              <a:t>2.1 SQL y Bases de Datos</a:t>
            </a:r>
          </a:p>
          <a:p>
            <a:r>
              <a:rPr lang="es-MX" dirty="0"/>
              <a:t>B) </a:t>
            </a:r>
            <a:r>
              <a:rPr lang="es-PE" sz="1800" kern="100" dirty="0">
                <a:effectLst/>
                <a:ea typeface="Aptos" panose="020B0004020202020204" pitchFamily="34" charset="0"/>
                <a:cs typeface="Times New Roman" panose="02020603050405020304" pitchFamily="18" charset="0"/>
              </a:rPr>
              <a:t>Supón que tienes que realizar una limpieza de datos en una tabla con múltiples registros duplicados y datos inconsistentes. Explica los pasos y comandos SQL que seguirías para realizar este proceso de optimización.</a:t>
            </a:r>
            <a:endParaRPr lang="es-ES" sz="1800" kern="100" dirty="0">
              <a:effectLst/>
              <a:ea typeface="Aptos" panose="020B000402020202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4BB86075-B8D3-AA5A-84A3-897B6485B73B}"/>
              </a:ext>
            </a:extLst>
          </p:cNvPr>
          <p:cNvPicPr>
            <a:picLocks noChangeAspect="1"/>
          </p:cNvPicPr>
          <p:nvPr/>
        </p:nvPicPr>
        <p:blipFill>
          <a:blip r:embed="rId2"/>
          <a:stretch>
            <a:fillRect/>
          </a:stretch>
        </p:blipFill>
        <p:spPr>
          <a:xfrm>
            <a:off x="1416767" y="3190664"/>
            <a:ext cx="3105150" cy="1333500"/>
          </a:xfrm>
          <a:prstGeom prst="rect">
            <a:avLst/>
          </a:prstGeom>
        </p:spPr>
      </p:pic>
      <p:pic>
        <p:nvPicPr>
          <p:cNvPr id="8" name="Imagen 7">
            <a:extLst>
              <a:ext uri="{FF2B5EF4-FFF2-40B4-BE49-F238E27FC236}">
                <a16:creationId xmlns:a16="http://schemas.microsoft.com/office/drawing/2014/main" id="{2DB3AC94-9A34-2908-C77E-93882450E224}"/>
              </a:ext>
            </a:extLst>
          </p:cNvPr>
          <p:cNvPicPr>
            <a:picLocks noChangeAspect="1"/>
          </p:cNvPicPr>
          <p:nvPr/>
        </p:nvPicPr>
        <p:blipFill>
          <a:blip r:embed="rId3"/>
          <a:stretch>
            <a:fillRect/>
          </a:stretch>
        </p:blipFill>
        <p:spPr>
          <a:xfrm>
            <a:off x="7997559" y="3043180"/>
            <a:ext cx="2162175" cy="2057400"/>
          </a:xfrm>
          <a:prstGeom prst="rect">
            <a:avLst/>
          </a:prstGeom>
        </p:spPr>
      </p:pic>
      <p:pic>
        <p:nvPicPr>
          <p:cNvPr id="10" name="Imagen 9">
            <a:extLst>
              <a:ext uri="{FF2B5EF4-FFF2-40B4-BE49-F238E27FC236}">
                <a16:creationId xmlns:a16="http://schemas.microsoft.com/office/drawing/2014/main" id="{C2B0D894-7BC3-4AFE-4610-E9FD20819883}"/>
              </a:ext>
            </a:extLst>
          </p:cNvPr>
          <p:cNvPicPr>
            <a:picLocks noChangeAspect="1"/>
          </p:cNvPicPr>
          <p:nvPr/>
        </p:nvPicPr>
        <p:blipFill>
          <a:blip r:embed="rId4"/>
          <a:stretch>
            <a:fillRect/>
          </a:stretch>
        </p:blipFill>
        <p:spPr>
          <a:xfrm>
            <a:off x="1036320" y="5243758"/>
            <a:ext cx="5543550" cy="352425"/>
          </a:xfrm>
          <a:prstGeom prst="rect">
            <a:avLst/>
          </a:prstGeom>
        </p:spPr>
      </p:pic>
      <p:pic>
        <p:nvPicPr>
          <p:cNvPr id="12" name="Imagen 11">
            <a:extLst>
              <a:ext uri="{FF2B5EF4-FFF2-40B4-BE49-F238E27FC236}">
                <a16:creationId xmlns:a16="http://schemas.microsoft.com/office/drawing/2014/main" id="{E84AB289-4061-3A44-0083-09F315A045AD}"/>
              </a:ext>
            </a:extLst>
          </p:cNvPr>
          <p:cNvPicPr>
            <a:picLocks noChangeAspect="1"/>
          </p:cNvPicPr>
          <p:nvPr/>
        </p:nvPicPr>
        <p:blipFill>
          <a:blip r:embed="rId5"/>
          <a:stretch>
            <a:fillRect/>
          </a:stretch>
        </p:blipFill>
        <p:spPr>
          <a:xfrm>
            <a:off x="6857079" y="5224707"/>
            <a:ext cx="4914900" cy="390525"/>
          </a:xfrm>
          <a:prstGeom prst="rect">
            <a:avLst/>
          </a:prstGeom>
        </p:spPr>
      </p:pic>
    </p:spTree>
    <p:extLst>
      <p:ext uri="{BB962C8B-B14F-4D97-AF65-F5344CB8AC3E}">
        <p14:creationId xmlns:p14="http://schemas.microsoft.com/office/powerpoint/2010/main" val="123392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BC02-18DB-9E26-7F2B-A3AE3D96F97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642889F-7F6E-810B-8159-A2C72F68F0A0}"/>
              </a:ext>
            </a:extLst>
          </p:cNvPr>
          <p:cNvSpPr>
            <a:spLocks noGrp="1"/>
          </p:cNvSpPr>
          <p:nvPr>
            <p:ph type="title"/>
          </p:nvPr>
        </p:nvSpPr>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BCD58981-E605-D9DD-E895-C4295FC9EFDA}"/>
              </a:ext>
            </a:extLst>
          </p:cNvPr>
          <p:cNvSpPr>
            <a:spLocks noGrp="1"/>
          </p:cNvSpPr>
          <p:nvPr>
            <p:ph idx="1"/>
          </p:nvPr>
        </p:nvSpPr>
        <p:spPr>
          <a:xfrm>
            <a:off x="1097280" y="1845734"/>
            <a:ext cx="10058400" cy="1089195"/>
          </a:xfrm>
        </p:spPr>
        <p:txBody>
          <a:bodyPr>
            <a:normAutofit lnSpcReduction="10000"/>
          </a:bodyPr>
          <a:lstStyle/>
          <a:p>
            <a:r>
              <a:rPr lang="es-MX" dirty="0"/>
              <a:t>2.1 SQL y Bases de Datos</a:t>
            </a:r>
          </a:p>
          <a:p>
            <a:r>
              <a:rPr lang="es-MX" dirty="0"/>
              <a:t>C) Se te pide desarrollar un reporte diario de deuda con detalles de cada cliente. ¿Qué técnicas o consideraciones tomarías en cuenta para optimizar este query?</a:t>
            </a:r>
          </a:p>
        </p:txBody>
      </p:sp>
      <p:sp>
        <p:nvSpPr>
          <p:cNvPr id="5" name="CuadroTexto 4">
            <a:extLst>
              <a:ext uri="{FF2B5EF4-FFF2-40B4-BE49-F238E27FC236}">
                <a16:creationId xmlns:a16="http://schemas.microsoft.com/office/drawing/2014/main" id="{B025B17F-1E71-EF7A-B7B9-1A24D303E3B4}"/>
              </a:ext>
            </a:extLst>
          </p:cNvPr>
          <p:cNvSpPr txBox="1"/>
          <p:nvPr/>
        </p:nvSpPr>
        <p:spPr>
          <a:xfrm>
            <a:off x="1097280" y="3045909"/>
            <a:ext cx="10058400" cy="1477328"/>
          </a:xfrm>
          <a:prstGeom prst="rect">
            <a:avLst/>
          </a:prstGeom>
          <a:noFill/>
        </p:spPr>
        <p:txBody>
          <a:bodyPr wrap="square" numCol="2">
            <a:spAutoFit/>
          </a:bodyPr>
          <a:lstStyle/>
          <a:p>
            <a:pPr marL="285750" indent="-285750">
              <a:buFont typeface="Arial" panose="020B0604020202020204" pitchFamily="34" charset="0"/>
              <a:buChar char="•"/>
            </a:pPr>
            <a:r>
              <a:rPr lang="es-MX" dirty="0"/>
              <a:t>Crearía índices en columnas de filtro (fecha, id_cliente) para facilitar la consulta.</a:t>
            </a:r>
          </a:p>
          <a:p>
            <a:pPr marL="285750" indent="-285750">
              <a:buFont typeface="Arial" panose="020B0604020202020204" pitchFamily="34" charset="0"/>
              <a:buChar char="•"/>
            </a:pPr>
            <a:r>
              <a:rPr lang="es-MX" dirty="0"/>
              <a:t>Usaría particiones de tabla por fecha para mejorar el rendimiento.</a:t>
            </a:r>
          </a:p>
          <a:p>
            <a:pPr marL="285750" indent="-285750">
              <a:buFont typeface="Arial" panose="020B0604020202020204" pitchFamily="34" charset="0"/>
              <a:buChar char="•"/>
            </a:pPr>
            <a:r>
              <a:rPr lang="es-MX" dirty="0"/>
              <a:t>Limitaría la cantidad de columnas en la consulta al mínimo necesario.</a:t>
            </a:r>
          </a:p>
          <a:p>
            <a:pPr marL="285750" indent="-285750">
              <a:buFont typeface="Arial" panose="020B0604020202020204" pitchFamily="34" charset="0"/>
              <a:buChar char="•"/>
            </a:pPr>
            <a:r>
              <a:rPr lang="es-MX" dirty="0"/>
              <a:t>Podría realizar una consulta como esta para optimizar con GROUP BY y filtros específicos:</a:t>
            </a:r>
          </a:p>
          <a:p>
            <a:endParaRPr lang="es-ES" dirty="0"/>
          </a:p>
        </p:txBody>
      </p:sp>
      <p:pic>
        <p:nvPicPr>
          <p:cNvPr id="8" name="Imagen 7">
            <a:extLst>
              <a:ext uri="{FF2B5EF4-FFF2-40B4-BE49-F238E27FC236}">
                <a16:creationId xmlns:a16="http://schemas.microsoft.com/office/drawing/2014/main" id="{F23AA302-87CE-1FF7-8999-DD55D2CE4DB2}"/>
              </a:ext>
            </a:extLst>
          </p:cNvPr>
          <p:cNvPicPr>
            <a:picLocks noChangeAspect="1"/>
          </p:cNvPicPr>
          <p:nvPr/>
        </p:nvPicPr>
        <p:blipFill>
          <a:blip r:embed="rId2"/>
          <a:stretch>
            <a:fillRect/>
          </a:stretch>
        </p:blipFill>
        <p:spPr>
          <a:xfrm>
            <a:off x="6126480" y="3962704"/>
            <a:ext cx="4733925" cy="1343025"/>
          </a:xfrm>
          <a:prstGeom prst="rect">
            <a:avLst/>
          </a:prstGeom>
        </p:spPr>
      </p:pic>
    </p:spTree>
    <p:extLst>
      <p:ext uri="{BB962C8B-B14F-4D97-AF65-F5344CB8AC3E}">
        <p14:creationId xmlns:p14="http://schemas.microsoft.com/office/powerpoint/2010/main" val="2310255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75AC3-F8BD-9DFF-E8C1-E07B151651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FF52AB-2044-1B47-922A-2BE150534CC8}"/>
              </a:ext>
            </a:extLst>
          </p:cNvPr>
          <p:cNvSpPr>
            <a:spLocks noGrp="1"/>
          </p:cNvSpPr>
          <p:nvPr>
            <p:ph type="title"/>
          </p:nvPr>
        </p:nvSpPr>
        <p:spPr>
          <a:xfrm>
            <a:off x="1097280" y="286603"/>
            <a:ext cx="10058400" cy="844047"/>
          </a:xfrm>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7470E475-BD76-BBEB-9A5B-0D66F540E8EA}"/>
              </a:ext>
            </a:extLst>
          </p:cNvPr>
          <p:cNvSpPr>
            <a:spLocks noGrp="1"/>
          </p:cNvSpPr>
          <p:nvPr>
            <p:ph idx="1"/>
          </p:nvPr>
        </p:nvSpPr>
        <p:spPr>
          <a:xfrm>
            <a:off x="1097280" y="1417320"/>
            <a:ext cx="10058400" cy="4023360"/>
          </a:xfrm>
        </p:spPr>
        <p:txBody>
          <a:bodyPr/>
          <a:lstStyle/>
          <a:p>
            <a:r>
              <a:rPr lang="es-MX" dirty="0"/>
              <a:t>2.2 Automatización y Python</a:t>
            </a:r>
          </a:p>
          <a:p>
            <a:r>
              <a:rPr lang="es-MX" dirty="0"/>
              <a:t>A) Escribe un script en Python que se conecte a una base de datos SQL, ejecute una consulta y exporte los resultados a un archivo Excel.</a:t>
            </a:r>
            <a:endParaRPr lang="es-ES" dirty="0"/>
          </a:p>
        </p:txBody>
      </p:sp>
      <p:pic>
        <p:nvPicPr>
          <p:cNvPr id="4" name="Imagen 3">
            <a:extLst>
              <a:ext uri="{FF2B5EF4-FFF2-40B4-BE49-F238E27FC236}">
                <a16:creationId xmlns:a16="http://schemas.microsoft.com/office/drawing/2014/main" id="{9C462C19-B783-4879-8C4B-396650C3D43F}"/>
              </a:ext>
            </a:extLst>
          </p:cNvPr>
          <p:cNvPicPr>
            <a:picLocks noChangeAspect="1"/>
          </p:cNvPicPr>
          <p:nvPr/>
        </p:nvPicPr>
        <p:blipFill>
          <a:blip r:embed="rId2"/>
          <a:stretch>
            <a:fillRect/>
          </a:stretch>
        </p:blipFill>
        <p:spPr>
          <a:xfrm>
            <a:off x="1335220" y="2502093"/>
            <a:ext cx="9521559" cy="3684790"/>
          </a:xfrm>
          <a:prstGeom prst="rect">
            <a:avLst/>
          </a:prstGeom>
        </p:spPr>
      </p:pic>
    </p:spTree>
    <p:extLst>
      <p:ext uri="{BB962C8B-B14F-4D97-AF65-F5344CB8AC3E}">
        <p14:creationId xmlns:p14="http://schemas.microsoft.com/office/powerpoint/2010/main" val="1638582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EB792-D660-0D18-CD78-0F4BCBD691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283C14-7219-4D64-5E51-6BC3D27B6DFF}"/>
              </a:ext>
            </a:extLst>
          </p:cNvPr>
          <p:cNvSpPr>
            <a:spLocks noGrp="1"/>
          </p:cNvSpPr>
          <p:nvPr>
            <p:ph type="title"/>
          </p:nvPr>
        </p:nvSpPr>
        <p:spPr>
          <a:xfrm>
            <a:off x="1097280" y="286603"/>
            <a:ext cx="10058400" cy="844047"/>
          </a:xfrm>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FC28B0AB-3158-989F-B5CF-FEBAA1E0E39F}"/>
              </a:ext>
            </a:extLst>
          </p:cNvPr>
          <p:cNvSpPr>
            <a:spLocks noGrp="1"/>
          </p:cNvSpPr>
          <p:nvPr>
            <p:ph idx="1"/>
          </p:nvPr>
        </p:nvSpPr>
        <p:spPr>
          <a:xfrm>
            <a:off x="1097280" y="1417320"/>
            <a:ext cx="10058400" cy="4023360"/>
          </a:xfrm>
        </p:spPr>
        <p:txBody>
          <a:bodyPr/>
          <a:lstStyle/>
          <a:p>
            <a:r>
              <a:rPr lang="es-MX" dirty="0"/>
              <a:t>2.2 Automatización y Python</a:t>
            </a:r>
          </a:p>
          <a:p>
            <a:r>
              <a:rPr lang="es-MX" dirty="0"/>
              <a:t>B) Describe un flujo de trabajo en el que automatizarías el reporte de asignación de pagos utilizando Python y herramientas de automatización como Power Query o SQL.</a:t>
            </a:r>
          </a:p>
          <a:p>
            <a:pPr marL="457200" indent="-457200">
              <a:buFont typeface="+mj-lt"/>
              <a:buAutoNum type="arabicPeriod"/>
            </a:pPr>
            <a:r>
              <a:rPr lang="es-MX" dirty="0"/>
              <a:t>Usar SQL para obtener los datos relevantes (pagos y asignaciones pendientes). </a:t>
            </a:r>
          </a:p>
          <a:p>
            <a:pPr marL="457200" indent="-457200">
              <a:buFont typeface="+mj-lt"/>
              <a:buAutoNum type="arabicPeriod"/>
            </a:pPr>
            <a:r>
              <a:rPr lang="es-MX" dirty="0"/>
              <a:t>Usar Python con Pandas para procesar y filtrar los datos.</a:t>
            </a:r>
          </a:p>
          <a:p>
            <a:pPr marL="457200" indent="-457200">
              <a:buFont typeface="+mj-lt"/>
              <a:buAutoNum type="arabicPeriod"/>
            </a:pPr>
            <a:r>
              <a:rPr lang="es-MX" dirty="0"/>
              <a:t>Exportar los datos procesados a un archivo Excel o un sistema como Power BI. </a:t>
            </a:r>
          </a:p>
          <a:p>
            <a:pPr marL="457200" indent="-457200">
              <a:buFont typeface="+mj-lt"/>
              <a:buAutoNum type="arabicPeriod"/>
            </a:pPr>
            <a:r>
              <a:rPr lang="es-MX" dirty="0"/>
              <a:t>Configurar Power Query para automatizar la carga y actualización del reporte. </a:t>
            </a:r>
          </a:p>
          <a:p>
            <a:pPr marL="457200" indent="-457200">
              <a:buFont typeface="+mj-lt"/>
              <a:buAutoNum type="arabicPeriod"/>
            </a:pPr>
            <a:r>
              <a:rPr lang="es-MX" dirty="0"/>
              <a:t>Usar un script cron o un programador de tareas para ejecutar este flujo diariamente.</a:t>
            </a:r>
            <a:endParaRPr lang="es-ES" dirty="0"/>
          </a:p>
        </p:txBody>
      </p:sp>
    </p:spTree>
    <p:extLst>
      <p:ext uri="{BB962C8B-B14F-4D97-AF65-F5344CB8AC3E}">
        <p14:creationId xmlns:p14="http://schemas.microsoft.com/office/powerpoint/2010/main" val="257572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22DA0-8385-E83E-DD38-CCB751113D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808D30-8363-AAA3-BB08-A956342713A7}"/>
              </a:ext>
            </a:extLst>
          </p:cNvPr>
          <p:cNvSpPr>
            <a:spLocks noGrp="1"/>
          </p:cNvSpPr>
          <p:nvPr>
            <p:ph type="title"/>
          </p:nvPr>
        </p:nvSpPr>
        <p:spPr>
          <a:xfrm>
            <a:off x="1097280" y="286603"/>
            <a:ext cx="10058400" cy="844047"/>
          </a:xfrm>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69E7D5A2-EF2E-46BE-9C89-C96651D257AE}"/>
              </a:ext>
            </a:extLst>
          </p:cNvPr>
          <p:cNvSpPr>
            <a:spLocks noGrp="1"/>
          </p:cNvSpPr>
          <p:nvPr>
            <p:ph idx="1"/>
          </p:nvPr>
        </p:nvSpPr>
        <p:spPr>
          <a:xfrm>
            <a:off x="1097280" y="1417320"/>
            <a:ext cx="10058400" cy="4023360"/>
          </a:xfrm>
        </p:spPr>
        <p:txBody>
          <a:bodyPr/>
          <a:lstStyle/>
          <a:p>
            <a:r>
              <a:rPr lang="es-MX" dirty="0"/>
              <a:t>2.2 Automatización y Python</a:t>
            </a:r>
          </a:p>
          <a:p>
            <a:r>
              <a:rPr lang="es-MX" dirty="0"/>
              <a:t>C) ¿Cómo utilizarías Pandas y </a:t>
            </a:r>
            <a:r>
              <a:rPr lang="es-MX" dirty="0" err="1"/>
              <a:t>Numpy</a:t>
            </a:r>
            <a:r>
              <a:rPr lang="es-MX" dirty="0"/>
              <a:t> para identificar valores atípicos en un conjunto de datos financiero? Explica brevemente y da un ejemplo.</a:t>
            </a:r>
          </a:p>
          <a:p>
            <a:endParaRPr lang="es-MX" dirty="0"/>
          </a:p>
        </p:txBody>
      </p:sp>
      <p:pic>
        <p:nvPicPr>
          <p:cNvPr id="5" name="Imagen 4">
            <a:extLst>
              <a:ext uri="{FF2B5EF4-FFF2-40B4-BE49-F238E27FC236}">
                <a16:creationId xmlns:a16="http://schemas.microsoft.com/office/drawing/2014/main" id="{D6A48C62-08EA-DE21-92DC-9BBF2E0CF849}"/>
              </a:ext>
            </a:extLst>
          </p:cNvPr>
          <p:cNvPicPr>
            <a:picLocks noChangeAspect="1"/>
          </p:cNvPicPr>
          <p:nvPr/>
        </p:nvPicPr>
        <p:blipFill>
          <a:blip r:embed="rId2"/>
          <a:stretch>
            <a:fillRect/>
          </a:stretch>
        </p:blipFill>
        <p:spPr>
          <a:xfrm>
            <a:off x="1170522" y="2855349"/>
            <a:ext cx="9850956" cy="2218096"/>
          </a:xfrm>
          <a:prstGeom prst="rect">
            <a:avLst/>
          </a:prstGeom>
        </p:spPr>
      </p:pic>
    </p:spTree>
    <p:extLst>
      <p:ext uri="{BB962C8B-B14F-4D97-AF65-F5344CB8AC3E}">
        <p14:creationId xmlns:p14="http://schemas.microsoft.com/office/powerpoint/2010/main" val="2539807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39CE2-D9FB-4CBA-931A-E5378F4D9A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0BD0D9-DC24-36EB-AB25-F53656B1E5F5}"/>
              </a:ext>
            </a:extLst>
          </p:cNvPr>
          <p:cNvSpPr>
            <a:spLocks noGrp="1"/>
          </p:cNvSpPr>
          <p:nvPr>
            <p:ph type="title"/>
          </p:nvPr>
        </p:nvSpPr>
        <p:spPr>
          <a:xfrm>
            <a:off x="1097280" y="286603"/>
            <a:ext cx="10058400" cy="844047"/>
          </a:xfrm>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3EA83556-47C8-474E-9A71-D56C0CEBF7D2}"/>
              </a:ext>
            </a:extLst>
          </p:cNvPr>
          <p:cNvSpPr>
            <a:spLocks noGrp="1"/>
          </p:cNvSpPr>
          <p:nvPr>
            <p:ph idx="1"/>
          </p:nvPr>
        </p:nvSpPr>
        <p:spPr>
          <a:xfrm>
            <a:off x="1097280" y="1417320"/>
            <a:ext cx="10058400" cy="4023360"/>
          </a:xfrm>
        </p:spPr>
        <p:txBody>
          <a:bodyPr/>
          <a:lstStyle/>
          <a:p>
            <a:r>
              <a:rPr lang="es-MX" dirty="0"/>
              <a:t>2.3 Documentación y Procedimientos</a:t>
            </a:r>
          </a:p>
          <a:p>
            <a:r>
              <a:rPr lang="es-MX" dirty="0"/>
              <a:t>A) Explica los elementos clave que incluirías en un manual técnico para un nuevo proceso de reporte automatizado.</a:t>
            </a:r>
          </a:p>
          <a:p>
            <a:pPr marL="457200" indent="-457200">
              <a:buFont typeface="+mj-lt"/>
              <a:buAutoNum type="arabicPeriod"/>
            </a:pPr>
            <a:r>
              <a:rPr lang="es-MX" dirty="0"/>
              <a:t>Introducción: Propósito del reporte.</a:t>
            </a:r>
          </a:p>
          <a:p>
            <a:pPr marL="457200" indent="-457200">
              <a:buFont typeface="+mj-lt"/>
              <a:buAutoNum type="arabicPeriod"/>
            </a:pPr>
            <a:r>
              <a:rPr lang="es-MX" dirty="0"/>
              <a:t>Requisitos: Software y hardware necesarios. </a:t>
            </a:r>
          </a:p>
          <a:p>
            <a:pPr marL="457200" indent="-457200">
              <a:buFont typeface="+mj-lt"/>
              <a:buAutoNum type="arabicPeriod"/>
            </a:pPr>
            <a:r>
              <a:rPr lang="es-MX" dirty="0"/>
              <a:t>Configuración inicial: Cómo instalar herramientas y configurar conexiones. </a:t>
            </a:r>
          </a:p>
          <a:p>
            <a:pPr marL="457200" indent="-457200">
              <a:buFont typeface="+mj-lt"/>
              <a:buAutoNum type="arabicPeriod"/>
            </a:pPr>
            <a:r>
              <a:rPr lang="es-MX" dirty="0"/>
              <a:t>Instrucciones paso a paso: Cómo ejecutar scripts y validar resultados. </a:t>
            </a:r>
          </a:p>
          <a:p>
            <a:pPr marL="457200" indent="-457200">
              <a:buFont typeface="+mj-lt"/>
              <a:buAutoNum type="arabicPeriod"/>
            </a:pPr>
            <a:r>
              <a:rPr lang="es-MX" dirty="0"/>
              <a:t>Resolución de problemas: Posibles errores y cómo solucionarlos. Ejemplos: Salidas esperadas y formatos.</a:t>
            </a:r>
          </a:p>
        </p:txBody>
      </p:sp>
    </p:spTree>
    <p:extLst>
      <p:ext uri="{BB962C8B-B14F-4D97-AF65-F5344CB8AC3E}">
        <p14:creationId xmlns:p14="http://schemas.microsoft.com/office/powerpoint/2010/main" val="1492139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D7FDB-165E-6941-BC9F-CD682F30AF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64FF32-B99A-7EB0-4735-54B35C18E2F2}"/>
              </a:ext>
            </a:extLst>
          </p:cNvPr>
          <p:cNvSpPr>
            <a:spLocks noGrp="1"/>
          </p:cNvSpPr>
          <p:nvPr>
            <p:ph type="title"/>
          </p:nvPr>
        </p:nvSpPr>
        <p:spPr>
          <a:xfrm>
            <a:off x="1097280" y="286603"/>
            <a:ext cx="10058400" cy="844047"/>
          </a:xfrm>
        </p:spPr>
        <p:txBody>
          <a:bodyPr/>
          <a:lstStyle/>
          <a:p>
            <a:r>
              <a:rPr lang="es-PE" dirty="0"/>
              <a:t>2. Examen Teórico</a:t>
            </a:r>
            <a:endParaRPr lang="es-ES" dirty="0"/>
          </a:p>
        </p:txBody>
      </p:sp>
      <p:sp>
        <p:nvSpPr>
          <p:cNvPr id="3" name="Marcador de contenido 2">
            <a:extLst>
              <a:ext uri="{FF2B5EF4-FFF2-40B4-BE49-F238E27FC236}">
                <a16:creationId xmlns:a16="http://schemas.microsoft.com/office/drawing/2014/main" id="{8A657E0A-EACE-7B36-3B8F-E4E36C6B84C7}"/>
              </a:ext>
            </a:extLst>
          </p:cNvPr>
          <p:cNvSpPr>
            <a:spLocks noGrp="1"/>
          </p:cNvSpPr>
          <p:nvPr>
            <p:ph idx="1"/>
          </p:nvPr>
        </p:nvSpPr>
        <p:spPr>
          <a:xfrm>
            <a:off x="1097280" y="1417320"/>
            <a:ext cx="10058400" cy="4023360"/>
          </a:xfrm>
        </p:spPr>
        <p:txBody>
          <a:bodyPr/>
          <a:lstStyle/>
          <a:p>
            <a:r>
              <a:rPr lang="es-MX" dirty="0"/>
              <a:t>2.3 Documentación y Procedimientos</a:t>
            </a:r>
          </a:p>
          <a:p>
            <a:r>
              <a:rPr lang="es-MX" dirty="0"/>
              <a:t>B)</a:t>
            </a:r>
            <a:r>
              <a:rPr lang="es-PE" sz="1800" dirty="0">
                <a:effectLst/>
                <a:latin typeface="Aptos" panose="020B0004020202020204" pitchFamily="34" charset="0"/>
                <a:ea typeface="Aptos" panose="020B0004020202020204" pitchFamily="34" charset="0"/>
                <a:cs typeface="Times New Roman" panose="02020603050405020304" pitchFamily="18" charset="0"/>
              </a:rPr>
              <a:t> Describe cómo documentarías el flujo de trabajo para la gestión de bases de datos, asegurando que otros analistas puedan replicar y entender los procesos.</a:t>
            </a:r>
          </a:p>
          <a:p>
            <a:pPr marL="457200" indent="-457200">
              <a:buFont typeface="+mj-lt"/>
              <a:buAutoNum type="arabicPeriod"/>
            </a:pPr>
            <a:r>
              <a:rPr lang="es-MX" dirty="0"/>
              <a:t>Crear un diagrama de flujo del proceso.</a:t>
            </a:r>
          </a:p>
          <a:p>
            <a:pPr marL="457200" indent="-457200">
              <a:buFont typeface="+mj-lt"/>
              <a:buAutoNum type="arabicPeriod"/>
            </a:pPr>
            <a:r>
              <a:rPr lang="es-MX" dirty="0"/>
              <a:t>Detallar los comandos SQL más usados, con ejemplos prácticos. </a:t>
            </a:r>
          </a:p>
          <a:p>
            <a:pPr marL="457200" indent="-457200">
              <a:buFont typeface="+mj-lt"/>
              <a:buAutoNum type="arabicPeriod"/>
            </a:pPr>
            <a:r>
              <a:rPr lang="es-MX" dirty="0"/>
              <a:t>Incluir configuraciones de conexión a bases de datos. </a:t>
            </a:r>
          </a:p>
          <a:p>
            <a:pPr marL="457200" indent="-457200">
              <a:buFont typeface="+mj-lt"/>
              <a:buAutoNum type="arabicPeriod"/>
            </a:pPr>
            <a:r>
              <a:rPr lang="es-MX" dirty="0"/>
              <a:t>Documentar pasos para respaldos y recuperaciones. </a:t>
            </a:r>
          </a:p>
          <a:p>
            <a:pPr marL="457200" indent="-457200">
              <a:buFont typeface="+mj-lt"/>
              <a:buAutoNum type="arabicPeriod"/>
            </a:pPr>
            <a:r>
              <a:rPr lang="es-MX" dirty="0"/>
              <a:t>Proveer casos de prueba y resultados esperados.</a:t>
            </a:r>
          </a:p>
        </p:txBody>
      </p:sp>
    </p:spTree>
    <p:extLst>
      <p:ext uri="{BB962C8B-B14F-4D97-AF65-F5344CB8AC3E}">
        <p14:creationId xmlns:p14="http://schemas.microsoft.com/office/powerpoint/2010/main" val="634612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E306-9DE5-8D91-24DB-1FB2342159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898E9A-13AA-DF11-4880-1CF291D1A599}"/>
              </a:ext>
            </a:extLst>
          </p:cNvPr>
          <p:cNvSpPr>
            <a:spLocks noGrp="1"/>
          </p:cNvSpPr>
          <p:nvPr>
            <p:ph type="title"/>
          </p:nvPr>
        </p:nvSpPr>
        <p:spPr>
          <a:xfrm>
            <a:off x="1097280" y="286603"/>
            <a:ext cx="10058400" cy="844047"/>
          </a:xfrm>
        </p:spPr>
        <p:txBody>
          <a:bodyPr/>
          <a:lstStyle/>
          <a:p>
            <a:r>
              <a:rPr lang="es-PE" dirty="0"/>
              <a:t>3. Examen Practico</a:t>
            </a:r>
            <a:endParaRPr lang="es-ES" dirty="0"/>
          </a:p>
        </p:txBody>
      </p:sp>
      <p:sp>
        <p:nvSpPr>
          <p:cNvPr id="3" name="Marcador de contenido 2">
            <a:extLst>
              <a:ext uri="{FF2B5EF4-FFF2-40B4-BE49-F238E27FC236}">
                <a16:creationId xmlns:a16="http://schemas.microsoft.com/office/drawing/2014/main" id="{F5D289E9-8B45-C602-4A36-7BD6816CF2B8}"/>
              </a:ext>
            </a:extLst>
          </p:cNvPr>
          <p:cNvSpPr>
            <a:spLocks noGrp="1"/>
          </p:cNvSpPr>
          <p:nvPr>
            <p:ph idx="1"/>
          </p:nvPr>
        </p:nvSpPr>
        <p:spPr>
          <a:xfrm>
            <a:off x="1097280" y="1417320"/>
            <a:ext cx="10058400" cy="4023360"/>
          </a:xfrm>
        </p:spPr>
        <p:txBody>
          <a:bodyPr>
            <a:normAutofit/>
          </a:bodyPr>
          <a:lstStyle/>
          <a:p>
            <a:r>
              <a:rPr lang="es-MX" dirty="0"/>
              <a:t>3.1 Ventas por segmento:</a:t>
            </a:r>
          </a:p>
          <a:p>
            <a:r>
              <a:rPr lang="es-PE" sz="1800" dirty="0">
                <a:effectLst/>
                <a:latin typeface="Aptos" panose="020B0004020202020204" pitchFamily="34" charset="0"/>
                <a:ea typeface="Aptos" panose="020B0004020202020204" pitchFamily="34" charset="0"/>
                <a:cs typeface="Times New Roman" panose="02020603050405020304" pitchFamily="18" charset="0"/>
              </a:rPr>
              <a:t>Necesito una consulta SQL que cuente el número de ventas (CONTRATO) por SEGMENTO para el mes de octubre de 2024 (MESVENTA = '2024-10-01') en la tabla TB_FIN_ANALISIS. La consulta debe considerar solo aquellos registros donde el TIPOKIT esté en la lista específica de tipos de kits ('PFKT10ZV', 'PFKT3GF', 'PFKT10ZP', 'PFKTBPFM', 'PFKT10AP', 'PFKT1AZP', 'PFKT10AR', 'PRBC', 'PFKT1HS2', 'PFKT1HS1', 'PFKT10N1', 'PFKT1020', 'PFKT1010', 'PFKT4GAP', 'PFKT4GZL', 'PFKT4GF', 'PFKT4GLF', 'PFKT4GZP', 'PFKT4GZV', 'PFKT100', 'PRBC', 'PEF3GFM').</a:t>
            </a:r>
            <a:r>
              <a:rPr lang="es-MX" dirty="0"/>
              <a:t>Crear un diagrama de flujo del proceso.</a:t>
            </a:r>
          </a:p>
          <a:p>
            <a:r>
              <a:rPr lang="es-MX" dirty="0"/>
              <a:t>La salida debe mostrar: </a:t>
            </a:r>
          </a:p>
          <a:p>
            <a:pPr>
              <a:buFont typeface="Arial" panose="020B0604020202020204" pitchFamily="34" charset="0"/>
              <a:buChar char="•"/>
            </a:pPr>
            <a:r>
              <a:rPr lang="es-MX" dirty="0" err="1"/>
              <a:t>NumVentas</a:t>
            </a:r>
            <a:r>
              <a:rPr lang="es-MX" dirty="0"/>
              <a:t> (conteo de CONTRATO por cada SEGMENTO) </a:t>
            </a:r>
          </a:p>
          <a:p>
            <a:pPr>
              <a:buFont typeface="Arial" panose="020B0604020202020204" pitchFamily="34" charset="0"/>
              <a:buChar char="•"/>
            </a:pPr>
            <a:r>
              <a:rPr lang="es-MX" dirty="0"/>
              <a:t>SEGMENTO, agrupado y ordenado alfabéticamente</a:t>
            </a:r>
          </a:p>
        </p:txBody>
      </p:sp>
    </p:spTree>
    <p:extLst>
      <p:ext uri="{BB962C8B-B14F-4D97-AF65-F5344CB8AC3E}">
        <p14:creationId xmlns:p14="http://schemas.microsoft.com/office/powerpoint/2010/main" val="2380902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7D662-1CFD-2088-FD21-5B6C016A87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09FF2F-03B9-41B3-8AB3-2F9BCDD076B9}"/>
              </a:ext>
            </a:extLst>
          </p:cNvPr>
          <p:cNvSpPr>
            <a:spLocks noGrp="1"/>
          </p:cNvSpPr>
          <p:nvPr>
            <p:ph type="title"/>
          </p:nvPr>
        </p:nvSpPr>
        <p:spPr>
          <a:xfrm>
            <a:off x="1097280" y="286603"/>
            <a:ext cx="10058400" cy="844047"/>
          </a:xfrm>
        </p:spPr>
        <p:txBody>
          <a:bodyPr/>
          <a:lstStyle/>
          <a:p>
            <a:r>
              <a:rPr lang="es-PE" dirty="0"/>
              <a:t>3. Examen Practico</a:t>
            </a:r>
            <a:endParaRPr lang="es-ES" dirty="0"/>
          </a:p>
        </p:txBody>
      </p:sp>
      <p:sp>
        <p:nvSpPr>
          <p:cNvPr id="3" name="Marcador de contenido 2">
            <a:extLst>
              <a:ext uri="{FF2B5EF4-FFF2-40B4-BE49-F238E27FC236}">
                <a16:creationId xmlns:a16="http://schemas.microsoft.com/office/drawing/2014/main" id="{28FE272B-7A05-91A9-B372-8C8F6D446D3E}"/>
              </a:ext>
            </a:extLst>
          </p:cNvPr>
          <p:cNvSpPr>
            <a:spLocks noGrp="1"/>
          </p:cNvSpPr>
          <p:nvPr>
            <p:ph idx="1"/>
          </p:nvPr>
        </p:nvSpPr>
        <p:spPr>
          <a:xfrm>
            <a:off x="1097280" y="1417320"/>
            <a:ext cx="10058400" cy="4023360"/>
          </a:xfrm>
        </p:spPr>
        <p:txBody>
          <a:bodyPr>
            <a:normAutofit/>
          </a:bodyPr>
          <a:lstStyle/>
          <a:p>
            <a:r>
              <a:rPr lang="es-MX" dirty="0"/>
              <a:t>3.1 Ventas por segmento:</a:t>
            </a:r>
          </a:p>
          <a:p>
            <a:endParaRPr lang="es-MX" dirty="0"/>
          </a:p>
        </p:txBody>
      </p:sp>
      <p:pic>
        <p:nvPicPr>
          <p:cNvPr id="5" name="Imagen 4">
            <a:extLst>
              <a:ext uri="{FF2B5EF4-FFF2-40B4-BE49-F238E27FC236}">
                <a16:creationId xmlns:a16="http://schemas.microsoft.com/office/drawing/2014/main" id="{49C8AB79-2955-B19F-1E22-C2E6DB8EFB4E}"/>
              </a:ext>
            </a:extLst>
          </p:cNvPr>
          <p:cNvPicPr>
            <a:picLocks noChangeAspect="1"/>
          </p:cNvPicPr>
          <p:nvPr/>
        </p:nvPicPr>
        <p:blipFill>
          <a:blip r:embed="rId2"/>
          <a:stretch>
            <a:fillRect/>
          </a:stretch>
        </p:blipFill>
        <p:spPr>
          <a:xfrm>
            <a:off x="1859170" y="2067846"/>
            <a:ext cx="8534620" cy="3875753"/>
          </a:xfrm>
          <a:prstGeom prst="rect">
            <a:avLst/>
          </a:prstGeom>
        </p:spPr>
      </p:pic>
    </p:spTree>
    <p:extLst>
      <p:ext uri="{BB962C8B-B14F-4D97-AF65-F5344CB8AC3E}">
        <p14:creationId xmlns:p14="http://schemas.microsoft.com/office/powerpoint/2010/main" val="3838641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8E134-3D43-80A4-DCE0-EFB40697BC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09D4102-D625-DC88-1686-E9912CAB7C29}"/>
              </a:ext>
            </a:extLst>
          </p:cNvPr>
          <p:cNvSpPr>
            <a:spLocks noGrp="1"/>
          </p:cNvSpPr>
          <p:nvPr>
            <p:ph type="title"/>
          </p:nvPr>
        </p:nvSpPr>
        <p:spPr>
          <a:xfrm>
            <a:off x="1097280" y="286603"/>
            <a:ext cx="10058400" cy="844047"/>
          </a:xfrm>
        </p:spPr>
        <p:txBody>
          <a:bodyPr/>
          <a:lstStyle/>
          <a:p>
            <a:r>
              <a:rPr lang="es-PE" dirty="0"/>
              <a:t>3. Examen Practico</a:t>
            </a:r>
            <a:endParaRPr lang="es-ES" dirty="0"/>
          </a:p>
        </p:txBody>
      </p:sp>
      <p:sp>
        <p:nvSpPr>
          <p:cNvPr id="3" name="Marcador de contenido 2">
            <a:extLst>
              <a:ext uri="{FF2B5EF4-FFF2-40B4-BE49-F238E27FC236}">
                <a16:creationId xmlns:a16="http://schemas.microsoft.com/office/drawing/2014/main" id="{A653D524-4CD9-F001-6F36-7EC6D29E12BD}"/>
              </a:ext>
            </a:extLst>
          </p:cNvPr>
          <p:cNvSpPr>
            <a:spLocks noGrp="1"/>
          </p:cNvSpPr>
          <p:nvPr>
            <p:ph idx="1"/>
          </p:nvPr>
        </p:nvSpPr>
        <p:spPr>
          <a:xfrm>
            <a:off x="1097280" y="1417319"/>
            <a:ext cx="10058400" cy="4629519"/>
          </a:xfrm>
        </p:spPr>
        <p:txBody>
          <a:bodyPr>
            <a:normAutofit/>
          </a:bodyPr>
          <a:lstStyle/>
          <a:p>
            <a:r>
              <a:rPr lang="es-MX" sz="1800" dirty="0"/>
              <a:t>3.2 Ventas por forma de pago:</a:t>
            </a:r>
          </a:p>
          <a:p>
            <a:r>
              <a:rPr lang="es-MX" sz="1800" dirty="0"/>
              <a:t>Necesito una consulta SQL similar que cuente el número de ventas (CONTRATO) por FORMAPAGO_ACT para el mismo mes de octubre de 2024 (MESVENTA = '2024-10-01') en la tabla TB_FIN_ANALISIS. También se deben considerar solo aquellos registros donde el TIPOKIT esté en la lista detallada de tipos de kits.</a:t>
            </a:r>
          </a:p>
          <a:p>
            <a:r>
              <a:rPr lang="es-MX" sz="1800" dirty="0"/>
              <a:t>El resultado debe agrupar por FORMAPAGO_ACT y mostrar la cantidad de ventas por cada forma de pago (</a:t>
            </a:r>
            <a:r>
              <a:rPr lang="es-MX" sz="1800" dirty="0" err="1"/>
              <a:t>NumVentas</a:t>
            </a:r>
            <a:r>
              <a:rPr lang="es-MX" sz="1800" dirty="0"/>
              <a:t>). Además, la consulta debe ordenar las formas de pago en el siguiente orden específico:</a:t>
            </a:r>
          </a:p>
          <a:p>
            <a:r>
              <a:rPr lang="es-MX" sz="1800" dirty="0"/>
              <a:t>TC en primer lugar </a:t>
            </a:r>
          </a:p>
          <a:p>
            <a:r>
              <a:rPr lang="es-MX" sz="1800" dirty="0"/>
              <a:t>DD en segundo lugar </a:t>
            </a:r>
          </a:p>
          <a:p>
            <a:r>
              <a:rPr lang="es-MX" sz="1800" dirty="0"/>
              <a:t>CF en tercer lugar </a:t>
            </a:r>
          </a:p>
          <a:p>
            <a:r>
              <a:rPr lang="es-MX" sz="1800" dirty="0"/>
              <a:t>TD en cuarto lugar </a:t>
            </a:r>
          </a:p>
          <a:p>
            <a:r>
              <a:rPr lang="es-MX" sz="1800" dirty="0"/>
              <a:t>Cualquier otro valor, en quinto lugar</a:t>
            </a:r>
          </a:p>
        </p:txBody>
      </p:sp>
    </p:spTree>
    <p:extLst>
      <p:ext uri="{BB962C8B-B14F-4D97-AF65-F5344CB8AC3E}">
        <p14:creationId xmlns:p14="http://schemas.microsoft.com/office/powerpoint/2010/main" val="1449134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44DDB-6666-4374-C296-BA102AAE36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688A15E-0562-6B0A-5FF4-4644952C8127}"/>
              </a:ext>
            </a:extLst>
          </p:cNvPr>
          <p:cNvSpPr>
            <a:spLocks noGrp="1"/>
          </p:cNvSpPr>
          <p:nvPr>
            <p:ph type="title"/>
          </p:nvPr>
        </p:nvSpPr>
        <p:spPr>
          <a:xfrm>
            <a:off x="1097280" y="286603"/>
            <a:ext cx="10058400" cy="844047"/>
          </a:xfrm>
        </p:spPr>
        <p:txBody>
          <a:bodyPr/>
          <a:lstStyle/>
          <a:p>
            <a:r>
              <a:rPr lang="es-PE" dirty="0"/>
              <a:t>3. Examen Practico</a:t>
            </a:r>
            <a:endParaRPr lang="es-ES" dirty="0"/>
          </a:p>
        </p:txBody>
      </p:sp>
      <p:sp>
        <p:nvSpPr>
          <p:cNvPr id="3" name="Marcador de contenido 2">
            <a:extLst>
              <a:ext uri="{FF2B5EF4-FFF2-40B4-BE49-F238E27FC236}">
                <a16:creationId xmlns:a16="http://schemas.microsoft.com/office/drawing/2014/main" id="{70A58579-1F0F-0C2A-879A-B06C4DA8E6D9}"/>
              </a:ext>
            </a:extLst>
          </p:cNvPr>
          <p:cNvSpPr>
            <a:spLocks noGrp="1"/>
          </p:cNvSpPr>
          <p:nvPr>
            <p:ph idx="1"/>
          </p:nvPr>
        </p:nvSpPr>
        <p:spPr>
          <a:xfrm>
            <a:off x="1097280" y="1417319"/>
            <a:ext cx="10058400" cy="4629519"/>
          </a:xfrm>
        </p:spPr>
        <p:txBody>
          <a:bodyPr>
            <a:normAutofit/>
          </a:bodyPr>
          <a:lstStyle/>
          <a:p>
            <a:r>
              <a:rPr lang="es-MX" sz="1800" dirty="0"/>
              <a:t>3.2 Ventas por forma de pago:</a:t>
            </a:r>
          </a:p>
          <a:p>
            <a:endParaRPr lang="es-MX" sz="1800" dirty="0"/>
          </a:p>
        </p:txBody>
      </p:sp>
      <p:pic>
        <p:nvPicPr>
          <p:cNvPr id="5" name="Imagen 4">
            <a:extLst>
              <a:ext uri="{FF2B5EF4-FFF2-40B4-BE49-F238E27FC236}">
                <a16:creationId xmlns:a16="http://schemas.microsoft.com/office/drawing/2014/main" id="{199F62A1-C599-1FC8-CC00-8AFE39CCD17B}"/>
              </a:ext>
            </a:extLst>
          </p:cNvPr>
          <p:cNvPicPr>
            <a:picLocks noChangeAspect="1"/>
          </p:cNvPicPr>
          <p:nvPr/>
        </p:nvPicPr>
        <p:blipFill>
          <a:blip r:embed="rId2"/>
          <a:stretch>
            <a:fillRect/>
          </a:stretch>
        </p:blipFill>
        <p:spPr>
          <a:xfrm>
            <a:off x="2829908" y="1858740"/>
            <a:ext cx="6593144" cy="4188098"/>
          </a:xfrm>
          <a:prstGeom prst="rect">
            <a:avLst/>
          </a:prstGeom>
        </p:spPr>
      </p:pic>
    </p:spTree>
    <p:extLst>
      <p:ext uri="{BB962C8B-B14F-4D97-AF65-F5344CB8AC3E}">
        <p14:creationId xmlns:p14="http://schemas.microsoft.com/office/powerpoint/2010/main" val="3876801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C6E9B-4200-FB92-9D9E-0BCEA90F7D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850D5D-6661-B0E9-AD7C-C28EA777F6F1}"/>
              </a:ext>
            </a:extLst>
          </p:cNvPr>
          <p:cNvSpPr>
            <a:spLocks noGrp="1"/>
          </p:cNvSpPr>
          <p:nvPr>
            <p:ph type="title"/>
          </p:nvPr>
        </p:nvSpPr>
        <p:spPr>
          <a:xfrm>
            <a:off x="1097280" y="286603"/>
            <a:ext cx="10058400" cy="844047"/>
          </a:xfrm>
        </p:spPr>
        <p:txBody>
          <a:bodyPr/>
          <a:lstStyle/>
          <a:p>
            <a:r>
              <a:rPr lang="es-PE" dirty="0"/>
              <a:t>3. Examen Practico</a:t>
            </a:r>
            <a:endParaRPr lang="es-ES" dirty="0"/>
          </a:p>
        </p:txBody>
      </p:sp>
      <p:sp>
        <p:nvSpPr>
          <p:cNvPr id="3" name="Marcador de contenido 2">
            <a:extLst>
              <a:ext uri="{FF2B5EF4-FFF2-40B4-BE49-F238E27FC236}">
                <a16:creationId xmlns:a16="http://schemas.microsoft.com/office/drawing/2014/main" id="{F4E9BE65-F850-865C-2DA5-EEEDC52240EA}"/>
              </a:ext>
            </a:extLst>
          </p:cNvPr>
          <p:cNvSpPr>
            <a:spLocks noGrp="1"/>
          </p:cNvSpPr>
          <p:nvPr>
            <p:ph idx="1"/>
          </p:nvPr>
        </p:nvSpPr>
        <p:spPr>
          <a:xfrm>
            <a:off x="1097280" y="1417319"/>
            <a:ext cx="10058400" cy="4629519"/>
          </a:xfrm>
        </p:spPr>
        <p:txBody>
          <a:bodyPr>
            <a:normAutofit/>
          </a:bodyPr>
          <a:lstStyle/>
          <a:p>
            <a:r>
              <a:rPr lang="es-MX" sz="1800" dirty="0"/>
              <a:t>3.3 Consulta para promedio de precios de kit KP por mes:</a:t>
            </a:r>
          </a:p>
          <a:p>
            <a:r>
              <a:rPr lang="es-MX" sz="1800" dirty="0"/>
              <a:t>Necesito una consulta SQL que obtenga el promedio de PRECIOKIT_EXTRA por cada mes (MESVENTA) para aquellos registros que cumplen con las siguientes condiciones:</a:t>
            </a:r>
          </a:p>
          <a:p>
            <a:pPr marL="342900" indent="-342900">
              <a:buFont typeface="+mj-lt"/>
              <a:buAutoNum type="arabicPeriod"/>
            </a:pPr>
            <a:r>
              <a:rPr lang="es-MX" sz="1800" dirty="0"/>
              <a:t>TIPOKIT debe estar en una lista específica de valores ('PFKT10ZV', 'PFKT3GF', 'PFKT10ZP', 'PFKTBPFM', 'PFKT10AP', 'PFKT1AZP', 'PFKT10AR', 'PRBC', 'PFKT1HS2', 'PFKT1HS1', 'PFKT10N1', 'PFKT1020', 'PFKT1010', 'PFKT4GAP', 'PFKT4GZL', 'PFKT4GF', 'PFKT4GLF', 'PFKT4GZP', 'PFKT4GZV', 'PFKT100', 'PRBC', 'PEF3GFM’). </a:t>
            </a:r>
          </a:p>
          <a:p>
            <a:pPr marL="342900" indent="-342900">
              <a:buFont typeface="+mj-lt"/>
              <a:buAutoNum type="arabicPeriod"/>
            </a:pPr>
            <a:r>
              <a:rPr lang="es-MX" sz="1800" dirty="0"/>
              <a:t>La fecha MESVENTA debe ser posterior o igual a '2024-02-01’. </a:t>
            </a:r>
          </a:p>
          <a:p>
            <a:pPr marL="342900" indent="-342900">
              <a:buFont typeface="+mj-lt"/>
              <a:buAutoNum type="arabicPeriod"/>
            </a:pPr>
            <a:r>
              <a:rPr lang="es-MX" sz="1800" dirty="0"/>
              <a:t>El valor en TIPOPAI debe ser distinto de 'pai48x30' y 'pai36x30’. </a:t>
            </a:r>
          </a:p>
          <a:p>
            <a:pPr marL="342900" indent="-342900">
              <a:buFont typeface="+mj-lt"/>
              <a:buAutoNum type="arabicPeriod"/>
            </a:pPr>
            <a:r>
              <a:rPr lang="es-MX" sz="1800" dirty="0"/>
              <a:t>Los kits deben clasificarse en TIPOKIT usando una regla de asignación que establezca 'KB' si el TIPOKIT está en otra lista específica ('PEF3GFM', 'PFKPREH', 'PFKPREN', 'PFKT3GF', 'PFKTBPFM', 'PFKT4GLF', 'PFKT4GF'), y 'KP' en caso contrario.</a:t>
            </a:r>
          </a:p>
          <a:p>
            <a:pPr marL="0" indent="0">
              <a:buNone/>
            </a:pPr>
            <a:r>
              <a:rPr lang="es-MX" sz="1800" dirty="0"/>
              <a:t>Finalmente, el cálculo del promedio de PRECIOKIT_EXTRA debe incluir solo aquellos registros cuyo TIPOKIT sea 'KP', agrupados por mes (MESVENTA), y los resultados deben estar ordenados cronológicamente. </a:t>
            </a:r>
          </a:p>
        </p:txBody>
      </p:sp>
    </p:spTree>
    <p:extLst>
      <p:ext uri="{BB962C8B-B14F-4D97-AF65-F5344CB8AC3E}">
        <p14:creationId xmlns:p14="http://schemas.microsoft.com/office/powerpoint/2010/main" val="825013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7EBF1-9223-5B1E-F143-1E9C935479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56D52B-E22A-5CBB-656B-16C333408540}"/>
              </a:ext>
            </a:extLst>
          </p:cNvPr>
          <p:cNvSpPr>
            <a:spLocks noGrp="1"/>
          </p:cNvSpPr>
          <p:nvPr>
            <p:ph type="title"/>
          </p:nvPr>
        </p:nvSpPr>
        <p:spPr>
          <a:xfrm>
            <a:off x="1097280" y="286603"/>
            <a:ext cx="10058400" cy="844047"/>
          </a:xfrm>
        </p:spPr>
        <p:txBody>
          <a:bodyPr/>
          <a:lstStyle/>
          <a:p>
            <a:r>
              <a:rPr lang="es-PE" dirty="0"/>
              <a:t>3. Examen Practico</a:t>
            </a:r>
            <a:endParaRPr lang="es-ES" dirty="0"/>
          </a:p>
        </p:txBody>
      </p:sp>
      <p:sp>
        <p:nvSpPr>
          <p:cNvPr id="3" name="Marcador de contenido 2">
            <a:extLst>
              <a:ext uri="{FF2B5EF4-FFF2-40B4-BE49-F238E27FC236}">
                <a16:creationId xmlns:a16="http://schemas.microsoft.com/office/drawing/2014/main" id="{D37C6FD1-EB27-FACD-477F-E8AF86F597A3}"/>
              </a:ext>
            </a:extLst>
          </p:cNvPr>
          <p:cNvSpPr>
            <a:spLocks noGrp="1"/>
          </p:cNvSpPr>
          <p:nvPr>
            <p:ph idx="1"/>
          </p:nvPr>
        </p:nvSpPr>
        <p:spPr>
          <a:xfrm>
            <a:off x="1097280" y="1130651"/>
            <a:ext cx="10058400" cy="4916188"/>
          </a:xfrm>
        </p:spPr>
        <p:txBody>
          <a:bodyPr>
            <a:normAutofit/>
          </a:bodyPr>
          <a:lstStyle/>
          <a:p>
            <a:r>
              <a:rPr lang="es-MX" sz="1800" dirty="0"/>
              <a:t>3.3 Consulta para promedio de precios de kit KP por mes:</a:t>
            </a:r>
          </a:p>
        </p:txBody>
      </p:sp>
      <p:pic>
        <p:nvPicPr>
          <p:cNvPr id="5" name="Imagen 4">
            <a:extLst>
              <a:ext uri="{FF2B5EF4-FFF2-40B4-BE49-F238E27FC236}">
                <a16:creationId xmlns:a16="http://schemas.microsoft.com/office/drawing/2014/main" id="{D2F13106-A75C-9870-9787-1DF5D03EAE51}"/>
              </a:ext>
            </a:extLst>
          </p:cNvPr>
          <p:cNvPicPr>
            <a:picLocks noChangeAspect="1"/>
          </p:cNvPicPr>
          <p:nvPr/>
        </p:nvPicPr>
        <p:blipFill>
          <a:blip r:embed="rId2"/>
          <a:stretch>
            <a:fillRect/>
          </a:stretch>
        </p:blipFill>
        <p:spPr>
          <a:xfrm>
            <a:off x="2589032" y="1576872"/>
            <a:ext cx="7013935" cy="4469967"/>
          </a:xfrm>
          <a:prstGeom prst="rect">
            <a:avLst/>
          </a:prstGeom>
        </p:spPr>
      </p:pic>
    </p:spTree>
    <p:extLst>
      <p:ext uri="{BB962C8B-B14F-4D97-AF65-F5344CB8AC3E}">
        <p14:creationId xmlns:p14="http://schemas.microsoft.com/office/powerpoint/2010/main" val="3943482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5DA0-8AD9-8B41-999C-7A23E2DE11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0A95CF-8D29-637F-5CAA-18255E27D3B5}"/>
              </a:ext>
            </a:extLst>
          </p:cNvPr>
          <p:cNvSpPr>
            <a:spLocks noGrp="1"/>
          </p:cNvSpPr>
          <p:nvPr>
            <p:ph type="title"/>
          </p:nvPr>
        </p:nvSpPr>
        <p:spPr>
          <a:xfrm>
            <a:off x="1097280" y="286603"/>
            <a:ext cx="10058400" cy="844047"/>
          </a:xfrm>
        </p:spPr>
        <p:txBody>
          <a:bodyPr/>
          <a:lstStyle/>
          <a:p>
            <a:r>
              <a:rPr lang="es-PE" dirty="0"/>
              <a:t>3. Examen Practico</a:t>
            </a:r>
            <a:endParaRPr lang="es-ES" dirty="0"/>
          </a:p>
        </p:txBody>
      </p:sp>
      <p:sp>
        <p:nvSpPr>
          <p:cNvPr id="3" name="Marcador de contenido 2">
            <a:extLst>
              <a:ext uri="{FF2B5EF4-FFF2-40B4-BE49-F238E27FC236}">
                <a16:creationId xmlns:a16="http://schemas.microsoft.com/office/drawing/2014/main" id="{38F9EC8D-75EB-9801-A35A-C15F735003D5}"/>
              </a:ext>
            </a:extLst>
          </p:cNvPr>
          <p:cNvSpPr>
            <a:spLocks noGrp="1"/>
          </p:cNvSpPr>
          <p:nvPr>
            <p:ph idx="1"/>
          </p:nvPr>
        </p:nvSpPr>
        <p:spPr>
          <a:xfrm>
            <a:off x="1097280" y="1114240"/>
            <a:ext cx="10058400" cy="4629519"/>
          </a:xfrm>
        </p:spPr>
        <p:txBody>
          <a:bodyPr>
            <a:normAutofit/>
          </a:bodyPr>
          <a:lstStyle/>
          <a:p>
            <a:r>
              <a:rPr lang="es-MX" sz="1800" dirty="0"/>
              <a:t>3.4 Informe en Power BI</a:t>
            </a:r>
          </a:p>
          <a:p>
            <a:endParaRPr lang="es-MX" sz="1800" dirty="0"/>
          </a:p>
        </p:txBody>
      </p:sp>
      <p:pic>
        <p:nvPicPr>
          <p:cNvPr id="6" name="Marcador de contenido 4">
            <a:extLst>
              <a:ext uri="{FF2B5EF4-FFF2-40B4-BE49-F238E27FC236}">
                <a16:creationId xmlns:a16="http://schemas.microsoft.com/office/drawing/2014/main" id="{4963E021-7DE5-D523-FEF2-78FD7F666C73}"/>
              </a:ext>
            </a:extLst>
          </p:cNvPr>
          <p:cNvPicPr>
            <a:picLocks noChangeAspect="1"/>
          </p:cNvPicPr>
          <p:nvPr/>
        </p:nvPicPr>
        <p:blipFill>
          <a:blip r:embed="rId2"/>
          <a:stretch>
            <a:fillRect/>
          </a:stretch>
        </p:blipFill>
        <p:spPr>
          <a:xfrm>
            <a:off x="1976775" y="1396346"/>
            <a:ext cx="8299409" cy="4673930"/>
          </a:xfrm>
          <a:prstGeom prst="rect">
            <a:avLst/>
          </a:prstGeom>
        </p:spPr>
      </p:pic>
    </p:spTree>
    <p:extLst>
      <p:ext uri="{BB962C8B-B14F-4D97-AF65-F5344CB8AC3E}">
        <p14:creationId xmlns:p14="http://schemas.microsoft.com/office/powerpoint/2010/main" val="3296749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489030-420B-C791-51DE-FACD0C88169B}"/>
              </a:ext>
            </a:extLst>
          </p:cNvPr>
          <p:cNvSpPr>
            <a:spLocks noGrp="1"/>
          </p:cNvSpPr>
          <p:nvPr>
            <p:ph type="title"/>
          </p:nvPr>
        </p:nvSpPr>
        <p:spPr>
          <a:xfrm>
            <a:off x="1097280" y="286603"/>
            <a:ext cx="10058400" cy="3142397"/>
          </a:xfrm>
        </p:spPr>
        <p:txBody>
          <a:bodyPr/>
          <a:lstStyle/>
          <a:p>
            <a:pPr algn="ctr"/>
            <a:r>
              <a:rPr lang="es-PE" b="1" dirty="0"/>
              <a:t>MUCHAS GRACIAS</a:t>
            </a:r>
            <a:endParaRPr lang="es-ES" b="1" dirty="0"/>
          </a:p>
        </p:txBody>
      </p:sp>
    </p:spTree>
    <p:extLst>
      <p:ext uri="{BB962C8B-B14F-4D97-AF65-F5344CB8AC3E}">
        <p14:creationId xmlns:p14="http://schemas.microsoft.com/office/powerpoint/2010/main" val="4210763339"/>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Retrospect</Template>
  <TotalTime>236</TotalTime>
  <Words>1100</Words>
  <Application>Microsoft Office PowerPoint</Application>
  <PresentationFormat>Panorámica</PresentationFormat>
  <Paragraphs>82</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Aptos</vt:lpstr>
      <vt:lpstr>Arial</vt:lpstr>
      <vt:lpstr>Calibri</vt:lpstr>
      <vt:lpstr>Calibri Light</vt:lpstr>
      <vt:lpstr>Retrospección</vt:lpstr>
      <vt:lpstr>Resolución de exámenes del proceso de selección</vt:lpstr>
      <vt:lpstr>1. Introducción</vt:lpstr>
      <vt:lpstr>2. Examen Teórico</vt:lpstr>
      <vt:lpstr>2. Examen Teórico</vt:lpstr>
      <vt:lpstr>2. Examen Teórico</vt:lpstr>
      <vt:lpstr>2. Examen Teórico</vt:lpstr>
      <vt:lpstr>2. Examen Teórico</vt:lpstr>
      <vt:lpstr>2. Examen Teórico</vt:lpstr>
      <vt:lpstr>2. Examen Teórico</vt:lpstr>
      <vt:lpstr>2. Examen Teórico</vt:lpstr>
      <vt:lpstr>3. Examen Practico</vt:lpstr>
      <vt:lpstr>3. Examen Practico</vt:lpstr>
      <vt:lpstr>3. Examen Practico</vt:lpstr>
      <vt:lpstr>3. Examen Practico</vt:lpstr>
      <vt:lpstr>3. Examen Practico</vt:lpstr>
      <vt:lpstr>3. Examen Practico</vt:lpstr>
      <vt:lpstr>3. Examen Practico</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Paulo Zapata</dc:creator>
  <cp:lastModifiedBy>Paulo Zapata</cp:lastModifiedBy>
  <cp:revision>2</cp:revision>
  <dcterms:created xsi:type="dcterms:W3CDTF">2024-12-15T23:03:16Z</dcterms:created>
  <dcterms:modified xsi:type="dcterms:W3CDTF">2024-12-16T03:03:52Z</dcterms:modified>
</cp:coreProperties>
</file>